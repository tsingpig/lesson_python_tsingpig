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9" r:id="rId8"/>
    <p:sldId id="276" r:id="rId9"/>
    <p:sldId id="277" r:id="rId10"/>
    <p:sldId id="281" r:id="rId11"/>
    <p:sldId id="264" r:id="rId12"/>
    <p:sldId id="265" r:id="rId13"/>
    <p:sldId id="266" r:id="rId14"/>
    <p:sldId id="267" r:id="rId15"/>
    <p:sldId id="262" r:id="rId16"/>
    <p:sldId id="263" r:id="rId17"/>
    <p:sldId id="268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416" y="1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594A0-83EE-642D-1E13-EE606D95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80A298-2BB7-34C2-8F34-7632E04F17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E7C361-527D-6DAF-2EA7-2ABAF580058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D448287-BFA6-8DF5-3C06-005FCCD4DC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680880B-BBDB-74B5-91A5-A79C0A838B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F66DB-F706-66B3-4B26-859F8167B0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11F432-D527-8013-497D-E363A0A41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53056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27C83-6263-A1A3-8F50-D312698A9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5F9C9-B338-371C-763B-168A11914E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832B22-816C-8DAA-910A-BD815146729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0D28012-6951-597D-5193-82D4F1C56B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0415827-F7B0-A4C9-6867-E822FDC9D4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90848-B629-A044-F2B4-407D415195F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C2F02-2CD5-1466-4D74-7F845C26A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425184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"/>
          </p:nvPr>
        </p:nvSpPr>
        <p:spPr>
          <a:xfrm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16666"/>
              </a:lnSpc>
              <a:defRPr sz="5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105743" y="939736"/>
            <a:ext cx="3876564" cy="647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xxxxxx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774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12500"/>
              </a:lnSpc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2.1 Python xxx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4228793" y="1075629"/>
            <a:ext cx="7301144" cy="393700"/>
          </a:xfrm>
          <a:prstGeom prst="rect">
            <a:avLst/>
          </a:prstGeom>
          <a:solidFill>
            <a:srgbClr val="E7E7E7">
              <a:alpha val="100000"/>
            </a:srgbClr>
          </a:solidFill>
          <a:ln w="12700" cap="flat" cmpd="sng">
            <a:noFill/>
            <a:prstDash val="solid"/>
            <a:round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2100" b="1" i="0" u="none" strike="noStrike" spc="0">
                <a:solidFill>
                  <a:srgbClr val="1F2329">
                    <a:alpha val="100000"/>
                  </a:srgbClr>
                </a:solidFill>
                <a:latin typeface="Consolas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2100" b="1" i="0" u="none" strike="noStrike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[expression for item in iterable if condition]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" hasCustomPrompt="1"/>
          </p:nvPr>
        </p:nvSpPr>
        <p:spPr>
          <a:xfrm>
            <a:off x="171307" y="1905000"/>
            <a:ext cx="11358631" cy="2438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 anchorCtr="1">
            <a:noAutofit/>
          </a:bodyPr>
          <a:lstStyle>
            <a:lvl1pPr algn="l">
              <a:lnSpc>
                <a:spcPct val="125000"/>
              </a:lnSpc>
              <a:defRPr sz="3200" b="0" i="0" u="none" strike="noStrike" spc="0">
                <a:solidFill>
                  <a:srgbClr val="1F2329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Times New Roman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200" b="0" i="0" u="none" strike="noStrike">
                <a:solidFill>
                  <a:srgbClr val="1F2329"/>
                </a:solidFill>
                <a:highlight>
                  <a:srgbClr val="FFFFFF">
                    <a:alpha val="0"/>
                  </a:srgbClr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列表推导器（List Comprehension）是Python中一种简洁且高效的方式，用于创建列表。</a:t>
            </a:r>
          </a:p>
          <a:p>
            <a:pPr indent="0" algn="l">
              <a:lnSpc>
                <a:spcPct val="125000"/>
              </a:lnSpc>
            </a:pPr>
            <a:r>
              <a:rPr lang="en-US" sz="3200" b="0" i="0" u="none" strike="noStrike">
                <a:solidFill>
                  <a:srgbClr val="1F2329"/>
                </a:solidFill>
                <a:highlight>
                  <a:srgbClr val="FFFFFF">
                    <a:alpha val="0"/>
                  </a:srgbClr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它的语法比传统的 for 循环更简洁，代码可读性更高，特别适合在算法竞赛中快速生成数据或进行数据转换。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05743" y="939736"/>
            <a:ext cx="3876564" cy="647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xxxxxx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71307" y="76136"/>
            <a:ext cx="7810500" cy="774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12500"/>
              </a:lnSpc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2.1 Python xxx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4228793" y="1075629"/>
            <a:ext cx="7301144" cy="393700"/>
          </a:xfrm>
          <a:prstGeom prst="rect">
            <a:avLst/>
          </a:prstGeom>
          <a:solidFill>
            <a:srgbClr val="E7E7E7">
              <a:alpha val="100000"/>
            </a:srgbClr>
          </a:solidFill>
          <a:ln w="12700" cap="flat" cmpd="sng">
            <a:noFill/>
            <a:prstDash val="solid"/>
            <a:round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2100" b="1" i="0" u="none" strike="noStrike" spc="0">
                <a:solidFill>
                  <a:srgbClr val="1F2329">
                    <a:alpha val="100000"/>
                  </a:srgbClr>
                </a:solidFill>
                <a:latin typeface="Consolas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2100" b="1" i="0" u="none" strike="noStrike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[expression for item in iterable if condition]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9"/>
          </p:nvPr>
        </p:nvSpPr>
        <p:spPr>
          <a:xfrm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0" hasCustomPrompt="1"/>
          </p:nvPr>
        </p:nvSpPr>
        <p:spPr>
          <a:xfrm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1" hasCustomPrompt="1"/>
          </p:nvPr>
        </p:nvSpPr>
        <p:spPr>
          <a:xfrm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2" hasCustomPrompt="1"/>
          </p:nvPr>
        </p:nvSpPr>
        <p:spPr>
          <a:xfrm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3" hasCustomPrompt="1"/>
          </p:nvPr>
        </p:nvSpPr>
        <p:spPr>
          <a:xfrm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4"/>
          </p:nvPr>
        </p:nvSpPr>
        <p:spPr>
          <a:xfrm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body" sz="quarter" idx="15"/>
          </p:nvPr>
        </p:nvSpPr>
        <p:spPr>
          <a:xfrm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body" sz="quarter" idx="16"/>
          </p:nvPr>
        </p:nvSpPr>
        <p:spPr>
          <a:xfrm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17"/>
          </p:nvPr>
        </p:nvSpPr>
        <p:spPr>
          <a:xfrm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18"/>
          </p:nvPr>
        </p:nvSpPr>
        <p:spPr>
          <a:xfrm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19"/>
          </p:nvPr>
        </p:nvSpPr>
        <p:spPr>
          <a:xfrm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20"/>
          </p:nvPr>
        </p:nvSpPr>
        <p:spPr>
          <a:xfrm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21"/>
          </p:nvPr>
        </p:nvSpPr>
        <p:spPr>
          <a:xfrm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5399999" flipV="1">
            <a:off x="5672879" y="5482375"/>
            <a:ext cx="863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" name="AutoShape 3"/>
          <p:cNvSpPr>
            <a:spLocks noGrp="1"/>
          </p:cNvSpPr>
          <p:nvPr>
            <p:ph type="body" sz="quarter" idx="22"/>
          </p:nvPr>
        </p:nvSpPr>
        <p:spPr>
          <a:xfrm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/>
          </p:nvPr>
        </p:nvSpPr>
        <p:spPr>
          <a:xfrm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24"/>
          </p:nvPr>
        </p:nvSpPr>
        <p:spPr>
          <a:xfrm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5"/>
          </p:nvPr>
        </p:nvSpPr>
        <p:spPr>
          <a:xfrm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/>
          </p:nvPr>
        </p:nvSpPr>
        <p:spPr>
          <a:xfrm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7"/>
          </p:nvPr>
        </p:nvSpPr>
        <p:spPr>
          <a:xfrm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28"/>
          </p:nvPr>
        </p:nvSpPr>
        <p:spPr>
          <a:xfrm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29"/>
          </p:nvPr>
        </p:nvSpPr>
        <p:spPr>
          <a:xfrm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0"/>
          </p:nvPr>
        </p:nvSpPr>
        <p:spPr>
          <a:xfrm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1"/>
          </p:nvPr>
        </p:nvSpPr>
        <p:spPr>
          <a:xfrm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2"/>
          </p:nvPr>
        </p:nvSpPr>
        <p:spPr>
          <a:xfrm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3"/>
          </p:nvPr>
        </p:nvSpPr>
        <p:spPr>
          <a:xfrm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34"/>
          </p:nvPr>
        </p:nvSpPr>
        <p:spPr>
          <a:xfrm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35"/>
          </p:nvPr>
        </p:nvSpPr>
        <p:spPr>
          <a:xfrm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36"/>
          </p:nvPr>
        </p:nvSpPr>
        <p:spPr>
          <a:xfrm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7"/>
          </p:nvPr>
        </p:nvSpPr>
        <p:spPr>
          <a:xfrm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38"/>
          </p:nvPr>
        </p:nvSpPr>
        <p:spPr>
          <a:xfrm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39"/>
          </p:nvPr>
        </p:nvSpPr>
        <p:spPr>
          <a:xfrm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40"/>
          </p:nvPr>
        </p:nvSpPr>
        <p:spPr>
          <a:xfrm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41"/>
          </p:nvPr>
        </p:nvSpPr>
        <p:spPr>
          <a:xfrm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2"/>
          </p:nvPr>
        </p:nvSpPr>
        <p:spPr>
          <a:xfrm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body" sz="quarter" idx="43"/>
          </p:nvPr>
        </p:nvSpPr>
        <p:spPr>
          <a:xfrm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body" sz="quarter" idx="44"/>
          </p:nvPr>
        </p:nvSpPr>
        <p:spPr>
          <a:xfrm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45"/>
          </p:nvPr>
        </p:nvSpPr>
        <p:spPr>
          <a:xfrm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46"/>
          </p:nvPr>
        </p:nvSpPr>
        <p:spPr>
          <a:xfrm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47"/>
          </p:nvPr>
        </p:nvSpPr>
        <p:spPr>
          <a:xfrm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48"/>
          </p:nvPr>
        </p:nvSpPr>
        <p:spPr>
          <a:xfrm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49"/>
          </p:nvPr>
        </p:nvSpPr>
        <p:spPr>
          <a:xfrm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0"/>
          </p:nvPr>
        </p:nvSpPr>
        <p:spPr>
          <a:xfrm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51"/>
          </p:nvPr>
        </p:nvSpPr>
        <p:spPr>
          <a:xfrm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52"/>
          </p:nvPr>
        </p:nvSpPr>
        <p:spPr>
          <a:xfrm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53"/>
          </p:nvPr>
        </p:nvSpPr>
        <p:spPr>
          <a:xfrm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54"/>
          </p:nvPr>
        </p:nvSpPr>
        <p:spPr>
          <a:xfrm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55"/>
          </p:nvPr>
        </p:nvSpPr>
        <p:spPr>
          <a:xfrm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56"/>
          </p:nvPr>
        </p:nvSpPr>
        <p:spPr>
          <a:xfrm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body" sz="quarter" idx="57"/>
          </p:nvPr>
        </p:nvSpPr>
        <p:spPr>
          <a:xfrm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58"/>
          </p:nvPr>
        </p:nvSpPr>
        <p:spPr>
          <a:xfrm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59"/>
          </p:nvPr>
        </p:nvSpPr>
        <p:spPr>
          <a:xfrm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60"/>
          </p:nvPr>
        </p:nvSpPr>
        <p:spPr>
          <a:xfrm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61"/>
          </p:nvPr>
        </p:nvSpPr>
        <p:spPr>
          <a:xfrm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62"/>
          </p:nvPr>
        </p:nvSpPr>
        <p:spPr>
          <a:xfrm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3"/>
          </p:nvPr>
        </p:nvSpPr>
        <p:spPr>
          <a:xfrm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16666"/>
              </a:lnSpc>
              <a:defRPr sz="5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4"/>
          </p:nvPr>
        </p:nvSpPr>
        <p:spPr>
          <a:xfrm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xplorer-dong.github.io/ds-and-algo/templates-py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219081" y="424770"/>
            <a:ext cx="5664200" cy="396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5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蓝桥杯2026届Python冲刺课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52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时间复杂度</a:t>
            </a:r>
            <a:r>
              <a:rPr lang="en-US" sz="5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&amp; </a:t>
            </a:r>
            <a:r>
              <a:rPr lang="en-US" sz="52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哈希</a:t>
            </a:r>
            <a:r>
              <a:rPr lang="en-US" sz="5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&amp; </a:t>
            </a:r>
            <a:r>
              <a:rPr lang="en-US" sz="52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前缀和</a:t>
            </a:r>
            <a:endParaRPr lang="en-US" sz="5200" b="1" i="0" u="none" strike="noStrike" dirty="0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7973" y="1071929"/>
            <a:ext cx="10858500" cy="198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5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蓝桥杯2026届Python冲刺课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52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时间复杂度</a:t>
            </a:r>
            <a:r>
              <a:rPr lang="en-US" sz="5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5200" b="1" dirty="0">
                <a:latin typeface="Noto Sans SC"/>
                <a:ea typeface="Noto Sans SC"/>
                <a:cs typeface="Noto Sans SC"/>
                <a:sym typeface="Noto Sans SC"/>
              </a:rPr>
              <a:t>&amp; </a:t>
            </a:r>
            <a:r>
              <a:rPr lang="zh-CN" altLang="en-US" sz="5200" b="1">
                <a:latin typeface="Noto Sans SC"/>
                <a:ea typeface="Noto Sans SC"/>
                <a:cs typeface="Noto Sans SC"/>
                <a:sym typeface="Noto Sans SC"/>
              </a:rPr>
              <a:t>模拟</a:t>
            </a: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5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&amp; </a:t>
            </a:r>
            <a:r>
              <a:rPr lang="en-US" sz="52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哈希</a:t>
            </a:r>
            <a:r>
              <a:rPr lang="en-US" sz="5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&amp; </a:t>
            </a:r>
            <a:r>
              <a:rPr lang="en-US" sz="52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前缀和</a:t>
            </a:r>
            <a:endParaRPr lang="en-US" sz="5200" b="1" i="0" u="none" strike="noStrike" dirty="0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827370" y="4192786"/>
            <a:ext cx="8902700" cy="48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5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explorer-dong.github.io/ds-and-algo/templates-py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代码模板 【Python版】 - Dwj's Wiki (explorer-dong.github.io)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时间复杂度</a:t>
            </a:r>
            <a:endParaRPr lang="en-US" sz="4500" b="1" i="0" u="none" strike="noStrike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07" y="860040"/>
            <a:ext cx="10104572" cy="5319852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668D7AB-848B-D13B-E4B9-4D460CBD4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1185" y="509005"/>
            <a:ext cx="7545898" cy="608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时间复杂度</a:t>
            </a:r>
            <a:endParaRPr lang="en-US" sz="4500" b="1" i="0" u="none" strike="noStrike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3" y="1127114"/>
            <a:ext cx="11773218" cy="5162149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时间复杂度</a:t>
            </a:r>
            <a:endParaRPr lang="en-US" sz="4500" b="1" i="0" u="none" strike="noStrike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65" y="1415623"/>
            <a:ext cx="9839499" cy="5221649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5E621-40B2-F53C-695B-AF90D245D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179958D-7869-53F8-35C2-7BB35557F6D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时间复杂度</a:t>
            </a:r>
            <a:endParaRPr lang="en-US" sz="4500" b="1" i="0" u="none" strike="noStrike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260" name="图片 259">
            <a:extLst>
              <a:ext uri="{FF2B5EF4-FFF2-40B4-BE49-F238E27FC236}">
                <a16:creationId xmlns:a16="http://schemas.microsoft.com/office/drawing/2014/main" id="{AAB077FD-BEB5-F327-619A-D75608AE9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40" y="1528233"/>
            <a:ext cx="6001099" cy="505889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B130D16-854F-C449-E645-D09B072FE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7807" y="2764142"/>
            <a:ext cx="7257143" cy="2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798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2.2 算法入门2</a:t>
            </a:r>
          </a:p>
        </p:txBody>
      </p:sp>
      <p:sp>
        <p:nvSpPr>
          <p:cNvPr id="3" name="AutoShape 3"/>
          <p:cNvSpPr/>
          <p:nvPr/>
        </p:nvSpPr>
        <p:spPr>
          <a:xfrm>
            <a:off x="105743" y="939736"/>
            <a:ext cx="3876564" cy="647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400" b="1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模拟</a:t>
            </a:r>
            <a:endParaRPr lang="en-US" sz="11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144BDD5-C928-B43F-F31C-C15E6ACB1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9036" y="894773"/>
            <a:ext cx="6130778" cy="55271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2.2 算法入门2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4AFE0D0-8AA0-B96D-4D80-3CA17231D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163" y="1812022"/>
            <a:ext cx="9648347" cy="42778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FA65B-7F43-621C-4D99-87EBCEE79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8DAE0F0-0AFE-310E-8923-CEED1A99786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2.2 算法入门2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FD5517D-F69F-47F3-EC84-C266CC004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094" y="905768"/>
            <a:ext cx="6642641" cy="595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659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前缀和</a:t>
            </a:r>
            <a:endParaRPr lang="en-US" sz="4500" b="1" i="0" u="none" strike="noStrike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43" y="1027653"/>
            <a:ext cx="9739381" cy="5687583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3620837" y="418053"/>
            <a:ext cx="67310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[P8218 【深进1.例1】求区间和 - 洛谷 (luogu.com.cn)](https://www.luogu.com.cn/problem/P8218)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前缀和</a:t>
            </a:r>
            <a:endParaRPr lang="en-US" sz="4500" b="1" i="0" u="none" strike="noStrike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9736"/>
            <a:ext cx="11403190" cy="5348508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前缀和</a:t>
            </a:r>
            <a:endParaRPr lang="en-US" sz="4500" b="1" i="0" u="none" strike="noStrike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86239"/>
            <a:ext cx="12192000" cy="4285522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前缀和</a:t>
            </a:r>
            <a:endParaRPr lang="en-US" sz="4500" b="1" i="0" u="none" strike="noStrike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73" y="1341075"/>
            <a:ext cx="9488446" cy="5516925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哈希</a:t>
            </a:r>
            <a:endParaRPr lang="en-US" sz="4500" b="1" i="0" u="none" strike="noStrike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655" y="1010710"/>
            <a:ext cx="9718368" cy="584729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哈希</a:t>
            </a:r>
            <a:endParaRPr lang="en-US" sz="4500" b="1" i="0" u="none" strike="noStrike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2968"/>
            <a:ext cx="12192000" cy="4632063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122</Words>
  <Application>Microsoft Office PowerPoint</Application>
  <PresentationFormat>宽屏</PresentationFormat>
  <Paragraphs>52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Noto Sans SC</vt:lpstr>
      <vt:lpstr>Arial</vt:lpstr>
      <vt:lpstr>Consolas</vt:lpstr>
      <vt:lpstr>Times New Roman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TsingPig</dc:creator>
  <cp:lastModifiedBy>Zhengyang Zhu</cp:lastModifiedBy>
  <cp:revision>6</cp:revision>
  <dcterms:modified xsi:type="dcterms:W3CDTF">2026-03-17T10:55:18Z</dcterms:modified>
</cp:coreProperties>
</file>